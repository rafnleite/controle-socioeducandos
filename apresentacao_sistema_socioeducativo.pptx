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870dc7aaee44d5" /><Relationship Type="http://schemas.openxmlformats.org/officeDocument/2006/relationships/extended-properties" Target="/docProps/app.xml" Id="R34281bbc4b6344eb" /><Relationship Type="http://schemas.openxmlformats.org/officeDocument/2006/relationships/officeDocument" Target="/ppt/presentation.xml" Id="R57b6991f4051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46373e342045f1"/>
  </p:sldMasterIdLst>
  <p:notesMasterIdLst>
    <p:notesMasterId xmlns:r="http://schemas.openxmlformats.org/officeDocument/2006/relationships" r:id="R4f4ed7fb25014d25"/>
  </p:notesMasterIdLst>
  <p:sldIdLst>
    <p:sldId xmlns:r="http://schemas.openxmlformats.org/officeDocument/2006/relationships" id="256" r:id="Rdb3da385232c4267"/>
    <p:sldId xmlns:r="http://schemas.openxmlformats.org/officeDocument/2006/relationships" id="257" r:id="R43c7ce39a7f246ea"/>
    <p:sldId xmlns:r="http://schemas.openxmlformats.org/officeDocument/2006/relationships" id="258" r:id="R48b3191643c040b3"/>
    <p:sldId xmlns:r="http://schemas.openxmlformats.org/officeDocument/2006/relationships" id="259" r:id="R9eb55b4f2a5440a4"/>
    <p:sldId xmlns:r="http://schemas.openxmlformats.org/officeDocument/2006/relationships" id="260" r:id="R775d838e301c4e1e"/>
    <p:sldId xmlns:r="http://schemas.openxmlformats.org/officeDocument/2006/relationships" id="261" r:id="Rbe548c41729446da"/>
    <p:sldId xmlns:r="http://schemas.openxmlformats.org/officeDocument/2006/relationships" id="262" r:id="R39080bf2495f425a"/>
    <p:sldId xmlns:r="http://schemas.openxmlformats.org/officeDocument/2006/relationships" id="263" r:id="R29d87f4def0b4ccf"/>
    <p:sldId xmlns:r="http://schemas.openxmlformats.org/officeDocument/2006/relationships" id="264" r:id="R7aecdedf6c9048ea"/>
    <p:sldId xmlns:r="http://schemas.openxmlformats.org/officeDocument/2006/relationships" id="265" r:id="Rf6fcef749e70487c"/>
    <p:sldId xmlns:r="http://schemas.openxmlformats.org/officeDocument/2006/relationships" id="266" r:id="R424eb0604f1342d1"/>
    <p:sldId xmlns:r="http://schemas.openxmlformats.org/officeDocument/2006/relationships" id="267" r:id="Rd36fc0e535a946eb"/>
    <p:sldId xmlns:r="http://schemas.openxmlformats.org/officeDocument/2006/relationships" id="268" r:id="Ra61c63491f3247fc"/>
    <p:sldId xmlns:r="http://schemas.openxmlformats.org/officeDocument/2006/relationships" id="269" r:id="R18c4bb7466334104"/>
    <p:sldId xmlns:r="http://schemas.openxmlformats.org/officeDocument/2006/relationships" id="270" r:id="R7d6a85c97ea74a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340908ed5a4e90" /><Relationship Type="http://schemas.openxmlformats.org/officeDocument/2006/relationships/slideMaster" Target="/ppt/slideMasters/slideMaster1.xml" Id="Red46373e342045f1" /><Relationship Type="http://schemas.openxmlformats.org/officeDocument/2006/relationships/notesMaster" Target="/ppt/notesMasters/notesMaster1.xml" Id="R4f4ed7fb25014d25" /><Relationship Type="http://schemas.openxmlformats.org/officeDocument/2006/relationships/presProps" Target="/ppt/presProps.xml" Id="R0c203603450b415a" /><Relationship Type="http://schemas.openxmlformats.org/officeDocument/2006/relationships/tableStyles" Target="/ppt/tableStyles.xml" Id="R1ec7b7aa71204b73" /><Relationship Type="http://schemas.openxmlformats.org/officeDocument/2006/relationships/slide" Target="/ppt/slides/slide1.xml" Id="Rdb3da385232c4267" /><Relationship Type="http://schemas.openxmlformats.org/officeDocument/2006/relationships/slide" Target="/ppt/slides/slide2.xml" Id="R43c7ce39a7f246ea" /><Relationship Type="http://schemas.openxmlformats.org/officeDocument/2006/relationships/slide" Target="/ppt/slides/slide3.xml" Id="R48b3191643c040b3" /><Relationship Type="http://schemas.openxmlformats.org/officeDocument/2006/relationships/slide" Target="/ppt/slides/slide4.xml" Id="R9eb55b4f2a5440a4" /><Relationship Type="http://schemas.openxmlformats.org/officeDocument/2006/relationships/slide" Target="/ppt/slides/slide5.xml" Id="R775d838e301c4e1e" /><Relationship Type="http://schemas.openxmlformats.org/officeDocument/2006/relationships/slide" Target="/ppt/slides/slide6.xml" Id="Rbe548c41729446da" /><Relationship Type="http://schemas.openxmlformats.org/officeDocument/2006/relationships/slide" Target="/ppt/slides/slide7.xml" Id="R39080bf2495f425a" /><Relationship Type="http://schemas.openxmlformats.org/officeDocument/2006/relationships/slide" Target="/ppt/slides/slide8.xml" Id="R29d87f4def0b4ccf" /><Relationship Type="http://schemas.openxmlformats.org/officeDocument/2006/relationships/slide" Target="/ppt/slides/slide9.xml" Id="R7aecdedf6c9048ea" /><Relationship Type="http://schemas.openxmlformats.org/officeDocument/2006/relationships/slide" Target="/ppt/slides/slide10.xml" Id="Rf6fcef749e70487c" /><Relationship Type="http://schemas.openxmlformats.org/officeDocument/2006/relationships/slide" Target="/ppt/slides/slide11.xml" Id="R424eb0604f1342d1" /><Relationship Type="http://schemas.openxmlformats.org/officeDocument/2006/relationships/slide" Target="/ppt/slides/slide12.xml" Id="Rd36fc0e535a946eb" /><Relationship Type="http://schemas.openxmlformats.org/officeDocument/2006/relationships/slide" Target="/ppt/slides/slide13.xml" Id="Ra61c63491f3247fc" /><Relationship Type="http://schemas.openxmlformats.org/officeDocument/2006/relationships/slide" Target="/ppt/slides/slide14.xml" Id="R18c4bb7466334104" /><Relationship Type="http://schemas.openxmlformats.org/officeDocument/2006/relationships/slide" Target="/ppt/slides/slide15.xml" Id="R7d6a85c97ea74a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268c0edcbd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358aab18ea40bf" /><Relationship Type="http://schemas.openxmlformats.org/officeDocument/2006/relationships/notesMaster" Target="/ppt/notesMasters/notesMaster1.xml" Id="R8ed54bedcf8a4d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cc992584a4b88" /><Relationship Type="http://schemas.openxmlformats.org/officeDocument/2006/relationships/notesMaster" Target="/ppt/notesMasters/notesMaster1.xml" Id="R3cc2e0258f3a47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fb75171704cc9" /><Relationship Type="http://schemas.openxmlformats.org/officeDocument/2006/relationships/notesMaster" Target="/ppt/notesMasters/notesMaster1.xml" Id="R393ca871076b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a1abe3483542b5" /><Relationship Type="http://schemas.openxmlformats.org/officeDocument/2006/relationships/notesMaster" Target="/ppt/notesMasters/notesMaster1.xml" Id="Rc969212d8ab249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a1f5357e04ec5" /><Relationship Type="http://schemas.openxmlformats.org/officeDocument/2006/relationships/notesMaster" Target="/ppt/notesMasters/notesMaster1.xml" Id="R79684d37d70d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cee32282544d6" /><Relationship Type="http://schemas.openxmlformats.org/officeDocument/2006/relationships/notesMaster" Target="/ppt/notesMasters/notesMaster1.xml" Id="R71f391e3c6b7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0d415f609e4a1c" /><Relationship Type="http://schemas.openxmlformats.org/officeDocument/2006/relationships/notesMaster" Target="/ppt/notesMasters/notesMaster1.xml" Id="R6af8b89f1bf84e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7a0fd825e94c37" /><Relationship Type="http://schemas.openxmlformats.org/officeDocument/2006/relationships/notesMaster" Target="/ppt/notesMasters/notesMaster1.xml" Id="Rb7a04c4d984240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894a33d25b4f0f" /><Relationship Type="http://schemas.openxmlformats.org/officeDocument/2006/relationships/notesMaster" Target="/ppt/notesMasters/notesMaster1.xml" Id="R0cb1819c3c7443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9e365fdc2b4f50" /><Relationship Type="http://schemas.openxmlformats.org/officeDocument/2006/relationships/notesMaster" Target="/ppt/notesMasters/notesMaster1.xml" Id="R78a66aafea0c41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02e2579ed64864" /><Relationship Type="http://schemas.openxmlformats.org/officeDocument/2006/relationships/notesMaster" Target="/ppt/notesMasters/notesMaster1.xml" Id="R59f6e8f166d64d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362d2cd41c4015" /><Relationship Type="http://schemas.openxmlformats.org/officeDocument/2006/relationships/notesMaster" Target="/ppt/notesMasters/notesMaster1.xml" Id="R2294e25a53774d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2df3bc54494286" /><Relationship Type="http://schemas.openxmlformats.org/officeDocument/2006/relationships/notesMaster" Target="/ppt/notesMasters/notesMaster1.xml" Id="Rd82bee62dc6f42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3819d771894b2c" /><Relationship Type="http://schemas.openxmlformats.org/officeDocument/2006/relationships/notesMaster" Target="/ppt/notesMasters/notesMaster1.xml" Id="R4ace3d53f6fb42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e83a846648445f" /><Relationship Type="http://schemas.openxmlformats.org/officeDocument/2006/relationships/notesMaster" Target="/ppt/notesMasters/notesMaster1.xml" Id="R8904928e2475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619789eb44a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85a2f7825f4421" /><Relationship Type="http://schemas.openxmlformats.org/officeDocument/2006/relationships/slideLayout" Target="/ppt/slideLayouts/slideLayout1.xml" Id="R4028b102db47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8b102db47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4079542ae4596" /><Relationship Type="http://schemas.openxmlformats.org/officeDocument/2006/relationships/notesSlide" Target="/ppt/notesSlides/notesSlide1.xml" Id="Rfab5ce8a75c7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ece01e33d4652" /><Relationship Type="http://schemas.openxmlformats.org/officeDocument/2006/relationships/notesSlide" Target="/ppt/notesSlides/notesSlide2.xml" Id="Rf5694f652af649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0031dce7649f9" /><Relationship Type="http://schemas.openxmlformats.org/officeDocument/2006/relationships/image" Target="/ppt/media/image.jpeg" Id="R6963388b09c942c3" /><Relationship Type="http://schemas.openxmlformats.org/officeDocument/2006/relationships/notesSlide" Target="/ppt/notesSlides/notesSlide3.xml" Id="R89cb172b05f44b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eb7ae3dc94eb3" /><Relationship Type="http://schemas.openxmlformats.org/officeDocument/2006/relationships/image" Target="/ppt/media/image2.jpeg" Id="R423f9b5eb90742dd" /><Relationship Type="http://schemas.openxmlformats.org/officeDocument/2006/relationships/notesSlide" Target="/ppt/notesSlides/notesSlide4.xml" Id="R49716aa4dc5c43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f26fe457545f2" /><Relationship Type="http://schemas.openxmlformats.org/officeDocument/2006/relationships/image" Target="/ppt/media/image3.jpeg" Id="R05d563152d3140fa" /><Relationship Type="http://schemas.openxmlformats.org/officeDocument/2006/relationships/notesSlide" Target="/ppt/notesSlides/notesSlide5.xml" Id="R0f39ee2e19c34a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c9c471304753" /><Relationship Type="http://schemas.openxmlformats.org/officeDocument/2006/relationships/image" Target="/ppt/media/image4.jpeg" Id="R0c5e7ef4dd7046e3" /><Relationship Type="http://schemas.openxmlformats.org/officeDocument/2006/relationships/notesSlide" Target="/ppt/notesSlides/notesSlide6.xml" Id="R72a595994dca49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0217f1cb345cd" /><Relationship Type="http://schemas.openxmlformats.org/officeDocument/2006/relationships/image" Target="/ppt/media/image5.jpeg" Id="R151fb5fb1dee41c9" /><Relationship Type="http://schemas.openxmlformats.org/officeDocument/2006/relationships/notesSlide" Target="/ppt/notesSlides/notesSlide7.xml" Id="R159f0b98802d45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1d6d6826544c5" /><Relationship Type="http://schemas.openxmlformats.org/officeDocument/2006/relationships/image" Target="/ppt/media/image6.jpeg" Id="Rb855342a4dcb4d5a" /><Relationship Type="http://schemas.openxmlformats.org/officeDocument/2006/relationships/notesSlide" Target="/ppt/notesSlides/notesSlide8.xml" Id="Rc4f147b2f55647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adf9d62c7456f" /><Relationship Type="http://schemas.openxmlformats.org/officeDocument/2006/relationships/image" Target="/ppt/media/image7.jpeg" Id="R42c530e30c504e33" /><Relationship Type="http://schemas.openxmlformats.org/officeDocument/2006/relationships/notesSlide" Target="/ppt/notesSlides/notesSlide9.xml" Id="R92ab4c19b90042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6fac3197944c5" /><Relationship Type="http://schemas.openxmlformats.org/officeDocument/2006/relationships/image" Target="/ppt/media/image8.jpeg" Id="R1775248318874c6f" /><Relationship Type="http://schemas.openxmlformats.org/officeDocument/2006/relationships/notesSlide" Target="/ppt/notesSlides/notesSlide10.xml" Id="Ra8ae9e0f1d4649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2d27cde084789" /><Relationship Type="http://schemas.openxmlformats.org/officeDocument/2006/relationships/image" Target="/ppt/media/image9.jpeg" Id="R53fd0fa9d81147a9" /><Relationship Type="http://schemas.openxmlformats.org/officeDocument/2006/relationships/notesSlide" Target="/ppt/notesSlides/notesSlide11.xml" Id="Re77ce40aad2f44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170631c0b49e8" /><Relationship Type="http://schemas.openxmlformats.org/officeDocument/2006/relationships/image" Target="/ppt/media/image10.jpeg" Id="Rb2f934733a754bbb" /><Relationship Type="http://schemas.openxmlformats.org/officeDocument/2006/relationships/notesSlide" Target="/ppt/notesSlides/notesSlide12.xml" Id="R655b2d6bea7648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595f2b881413d" /><Relationship Type="http://schemas.openxmlformats.org/officeDocument/2006/relationships/image" Target="/ppt/media/image11.jpeg" Id="Rb10ff1f0e9f443e6" /><Relationship Type="http://schemas.openxmlformats.org/officeDocument/2006/relationships/notesSlide" Target="/ppt/notesSlides/notesSlide13.xml" Id="Reb050bb6ef3843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54b56a4134e3f" /><Relationship Type="http://schemas.openxmlformats.org/officeDocument/2006/relationships/image" Target="/ppt/media/image12.jpeg" Id="R13f59cf789ca4b92" /><Relationship Type="http://schemas.openxmlformats.org/officeDocument/2006/relationships/notesSlide" Target="/ppt/notesSlides/notesSlide14.xml" Id="R8229eb0d6d9146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15a90a3fc40bc" /><Relationship Type="http://schemas.openxmlformats.org/officeDocument/2006/relationships/notesSlide" Target="/ppt/notesSlides/notesSlide15.xml" Id="R1a426e9dec6544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CBF99-F39B-4C09-8612-EF3F925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5EF51-69D6-42C9-99E4-5FD685F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3C7A"/>
                </a:solidFill>
              </a:defRPr>
            </a:pPr>
            <a:r>
              <a:rPr sz="1050" b="1">
                <a:solidFill>
                  <a:srgbClr val="3C3C7A"/>
                </a:solidFill>
              </a:rPr>
              <a:t>APRESENTAÇÃO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D5FE7-D829-405C-90B6-F05B11E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A"/>
                </a:solidFill>
              </a:defRPr>
            </a:pPr>
            <a:r>
              <a:rPr sz="3600" b="1">
                <a:solidFill>
                  <a:srgbClr val="20212A"/>
                </a:solidFill>
              </a:rPr>
              <a:t>Sistema de Controle</a:t>
            </a:r>
          </a:p>
          <a:p xmlns:a="http://schemas.openxmlformats.org/drawingml/2006/main">
            <a:pPr>
              <a:defRPr sz="3600" b="1">
                <a:solidFill>
                  <a:srgbClr val="20212A"/>
                </a:solidFill>
              </a:defRPr>
            </a:pPr>
            <a:r>
              <a:rPr sz="3600" b="1">
                <a:solidFill>
                  <a:srgbClr val="20212A"/>
                </a:solidFill>
              </a:rPr>
              <a:t>da Unidade Socioeducativa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A994C-E3F7-46DA-82B1-DE38A59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06575"/>
                </a:solidFill>
              </a:defRPr>
            </a:pPr>
            <a:r>
              <a:rPr sz="1650">
                <a:solidFill>
                  <a:srgbClr val="606575"/>
                </a:solidFill>
              </a:rPr>
              <a:t>Visão integrada do acompanhamento, das atividades e da rotina da unidade.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273FC-2767-4B01-BB4C-5EA24B9F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3C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DCA95-EE25-400A-ADD5-7167BE82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C3C7A"/>
                </a:solidFill>
              </a:defRPr>
            </a:pPr>
            <a:r>
              <a:rPr sz="1350" b="1">
                <a:solidFill>
                  <a:srgbClr val="3C3C7A"/>
                </a:solidFill>
              </a:rPr>
              <a:t>Roteiro de demonstração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FD8AB-C497-44BA-9A62-A6CE7C42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6575"/>
                </a:solidFill>
              </a:defRPr>
            </a:pPr>
            <a:r>
              <a:rPr sz="1200">
                <a:solidFill>
                  <a:srgbClr val="606575"/>
                </a:solidFill>
              </a:rPr>
              <a:t>Painel geral  •  Perfil  •  Atividades  •  Registros  •  Relatórios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99DFC-4088-4BD8-BBBC-D95CC143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143250" cy="4286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FFC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7D03E-4711-41DD-966E-D035046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571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49B89-E7F1-408B-BFBF-DCED40E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13774-A30B-4E7F-BD23-97D412AF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193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D7C13-9180-4A91-8524-F595CBD6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19300"/>
            <a:ext cx="781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F6739-E38A-4873-8CEF-00A6273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571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80679-91D4-4766-9538-ADA2401B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78300-7015-4121-A84C-5B5A4CE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12763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5E806-90F8-4B09-9CE6-F8ADBFA7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C3C7A"/>
                </a:solidFill>
              </a:defRPr>
            </a:pPr>
            <a:r>
              <a:rPr sz="1350" b="1">
                <a:solidFill>
                  <a:srgbClr val="3C3C7A"/>
                </a:solidFill>
              </a:rPr>
              <a:t>visão integrada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D0543-6AB0-4E61-9ABE-F810DB2D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06575"/>
                </a:solidFill>
              </a:defRPr>
            </a:pPr>
            <a:r>
              <a:rPr sz="900">
                <a:solidFill>
                  <a:srgbClr val="606575"/>
                </a:solidFill>
              </a:rPr>
              <a:t>estrutura visual inspirada na interface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7FC80-C5EA-4AD2-BC7D-99F1099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7D9E6-4A2C-4089-9246-3F5EA11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80F57-0D98-495F-8E82-7314F0C3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7723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7D8F4-FC99-49BE-A492-89DD83E7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01 • 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94A56-F213-455F-B09F-814AD22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A rotina da unidade em um único lugar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25F43-92CC-418F-A798-3FBA81C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 demonstração parte do panorama e chega ao detalhe de cada socioeducando.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F92FA-D011-4C7F-B38A-6B2478DA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2A"/>
                </a:solidFill>
              </a:defRPr>
            </a:pPr>
            <a:r>
              <a:rPr sz="1800" b="1">
                <a:solidFill>
                  <a:srgbClr val="20212A"/>
                </a:solidFill>
              </a:rPr>
              <a:t>A lógica da apresentação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246DB-AF58-4446-8587-8B5B1A1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3B903-1813-49A0-9351-877AC45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000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FFC"/>
          </a:solidFill>
          <a:ln xmlns:a="http://schemas.openxmlformats.org/drawingml/2006/main" w="9525">
            <a:solidFill>
              <a:srgbClr val="3C3C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27E9F-BFFA-45FD-86DA-7383362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C3C7A"/>
                </a:solidFill>
              </a:defRPr>
            </a:pPr>
            <a:r>
              <a:rPr sz="1500" b="1">
                <a:solidFill>
                  <a:srgbClr val="3C3C7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1929C-2AA7-41FC-8454-8BFCD9A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A"/>
                </a:solidFill>
              </a:defRPr>
            </a:pPr>
            <a:r>
              <a:rPr sz="1575" b="1">
                <a:solidFill>
                  <a:srgbClr val="20212A"/>
                </a:solidFill>
              </a:rPr>
              <a:t>Visão do 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E7AA7-ED5E-4FDF-8282-18D57E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6575"/>
                </a:solidFill>
              </a:defRPr>
            </a:pPr>
            <a:r>
              <a:rPr sz="1125">
                <a:solidFill>
                  <a:srgbClr val="606575"/>
                </a:solidFill>
              </a:rPr>
              <a:t>Indicadores, alertas e atividades.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7FA5D-BB75-4DC8-96A1-CAB88F8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57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3C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17535-106D-45C3-8283-2EA45E79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000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6F9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9750F-D86E-4015-9D26-CE3F97C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6575"/>
                </a:solidFill>
              </a:defRPr>
            </a:pPr>
            <a:r>
              <a:rPr sz="1500" b="1">
                <a:solidFill>
                  <a:srgbClr val="60657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A11FE-2CE3-41A1-B902-D0DA8D7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A"/>
                </a:solidFill>
              </a:defRPr>
            </a:pPr>
            <a:r>
              <a:rPr sz="1575" b="1">
                <a:solidFill>
                  <a:srgbClr val="20212A"/>
                </a:solidFill>
              </a:rPr>
              <a:t>Acompanhamento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36CD3-DD0B-43B8-BADC-957DBB3A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29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6575"/>
                </a:solidFill>
              </a:defRPr>
            </a:pPr>
            <a:r>
              <a:rPr sz="1125">
                <a:solidFill>
                  <a:srgbClr val="606575"/>
                </a:solidFill>
              </a:rPr>
              <a:t>Perfil, agenda e histórico.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726E7-DEB5-46B1-821F-0C6ED35C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57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3C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01739-BCCC-46C2-B28C-1ED6C77C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2000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6F9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EBECB-45DB-486C-9C82-C02B59F6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6575"/>
                </a:solidFill>
              </a:defRPr>
            </a:pPr>
            <a:r>
              <a:rPr sz="1500" b="1">
                <a:solidFill>
                  <a:srgbClr val="60657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C6812-0EF8-4674-A27D-0EB57BEC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A"/>
                </a:solidFill>
              </a:defRPr>
            </a:pPr>
            <a:r>
              <a:rPr sz="1575" b="1">
                <a:solidFill>
                  <a:srgbClr val="20212A"/>
                </a:solidFill>
              </a:rPr>
              <a:t>Gestão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3C454-5DDB-422F-A81C-BA28E1F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6575"/>
                </a:solidFill>
              </a:defRPr>
            </a:pPr>
            <a:r>
              <a:rPr sz="1125">
                <a:solidFill>
                  <a:srgbClr val="606575"/>
                </a:solidFill>
              </a:rPr>
              <a:t>Cursos, oficinas e saídas.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D551F-096A-481C-B614-1B2DF74F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57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3C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4D0A1-46DE-4430-B7D2-2809303E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000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6F9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AF765-A903-441A-BD22-C8725B71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6575"/>
                </a:solidFill>
              </a:defRPr>
            </a:pPr>
            <a:r>
              <a:rPr sz="1500" b="1">
                <a:solidFill>
                  <a:srgbClr val="60657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25463-0E0C-484F-A9FE-DC6D718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A"/>
                </a:solidFill>
              </a:defRPr>
            </a:pPr>
            <a:r>
              <a:rPr sz="1575" b="1">
                <a:solidFill>
                  <a:srgbClr val="20212A"/>
                </a:solidFill>
              </a:rPr>
              <a:t>Decisão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D8317-2382-4331-90BE-CDF025F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6575"/>
                </a:solidFill>
              </a:defRPr>
            </a:pPr>
            <a:r>
              <a:rPr sz="1125">
                <a:solidFill>
                  <a:srgbClr val="606575"/>
                </a:solidFill>
              </a:rPr>
              <a:t>Filtros, relatórios e pendências.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6DDD5-4739-461D-B319-F13E53B1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477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D2829-994C-4968-913B-C1C69BE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D9FF"/>
                </a:solidFill>
              </a:defRPr>
            </a:pPr>
            <a:r>
              <a:rPr sz="1125" b="1">
                <a:solidFill>
                  <a:srgbClr val="D9D9FF"/>
                </a:solidFill>
              </a:rPr>
              <a:t>Mensagem central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A3BF5-519A-4952-BB9B-77AD94B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 registro orienta o próximo atendimento.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B7F65-0F9E-4728-BB7A-D1C5237B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E9394A-76AA-4411-9999-8F42354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B750D-09A0-4F2F-8894-372DDB07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2860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DA1C6-6868-45C8-9672-20423C2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02 • PAINEL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D9983-34B1-4C2C-BA5A-D916FD0C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O painel mostra o que merece atenção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CCEBD-67E2-4BED-B1F3-18CD9EFF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Indicadores, contexto do dia e pendências acionáveis.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391A5-4D65-4778-8C96-795187E7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3388b09c942c3"/>
          <a:stretch xmlns:a="http://schemas.openxmlformats.org/drawingml/2006/main"/>
        </p:blipFill>
        <p:spPr>
          <a:xfrm xmlns:a="http://schemas.openxmlformats.org/drawingml/2006/main">
            <a:off x="762000" y="2299827"/>
            <a:ext cx="6705600" cy="3096546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2D650-928E-4913-BC80-E0A269CB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ED7E-BC45-4CCC-84FE-F49DE1E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ECA35-2055-4CC5-90C3-7582BEE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18DAE-D0A1-4697-810A-CD30EEAB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5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D6852-3890-4C87-89A5-10EE652C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Indicadores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EC142-4F3D-4097-AA8A-D4E250B0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Totais da unidade e cursos em andamento.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23A64-A34F-4D2B-8940-C83F05D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3356B-94EA-4D2A-99DC-064756F2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D98B9-F1ED-45C0-AAE1-C594D69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Resumo do 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4B36A-2906-4B12-9C6E-91E4C99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28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Atendimentos, saídas, oficinas e alertas.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C9D70-085F-4B5E-889C-031E0FE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3F09A-BAA1-4459-90A0-26708DE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37828-B96B-46A9-A414-46C6535E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Equipe e prioridades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42D37-05CA-4485-AC2A-672EA36D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81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Pills de equipe e atividades críticas.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7E192-7724-4D2F-8826-829C654F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74D40-537D-4275-8E74-C0F169A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43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C0D90-929E-4D27-9C01-BA70D8B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Ação rápida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8DF42-8DD4-418B-AA8A-9BCAB91D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33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Clique no item e abra o detalhe.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877E0-8A40-4263-AF26-C636DA9F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5A975-FFE1-4340-BFCF-816AC68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5E5B4-E060-4A80-9864-C2A6C1B0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7071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CD0B0-02C3-4950-8D53-D6052CDA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03 • ACOMPANHAMENTO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6BAD5-868D-4B60-8B67-9244D9A9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O perfil transforma histórico em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CC5CB-DD7F-4EBF-81B5-712BC53C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Agenda, admissões, familiares, equipe, documentos e registros em abas.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5DD96-A687-49AD-AE26-748F75F6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0960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f9b5eb90742dd"/>
          <a:stretch xmlns:a="http://schemas.openxmlformats.org/drawingml/2006/main"/>
        </p:blipFill>
        <p:spPr>
          <a:xfrm xmlns:a="http://schemas.openxmlformats.org/drawingml/2006/main">
            <a:off x="762000" y="2475767"/>
            <a:ext cx="5943600" cy="2744666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44818-DC29-459F-A451-22DA62BC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2FDCE-9091-4C71-B5CC-F6024B39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0208A-A223-49FE-BA1C-D717F8D0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3888C-1D79-4E5C-BB17-A211E977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66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04884-8B6D-4F6F-B7E9-2ECFD5A8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81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Agenda 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F3973-7015-4686-8D7B-4831A05D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57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Cursos, trabalho, saídas e atendimentos.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D2B04-1C99-4528-AFF9-C65FA44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9536D-B9D5-4CBA-91CE-8DBB815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44DBD-3BE7-4841-83EE-BD72F95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Contexto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F153A-53A3-48D0-848F-1D521608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9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Admissões, familiares, equipe e documentos.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13357-1236-4F7D-BAA7-924443C7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F8B4A-A934-4CE0-92A1-BC05330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72F7C-6A11-4BE6-9F31-DADB5C1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Histórico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E9DCE-E374-4F72-8D3D-EBCA278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62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Registros organizados por tipo.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BAC68-A8EC-426B-AE35-326659C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6255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EFB8F-FFD5-429D-BC77-282A0C3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95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C3C7A"/>
                </a:solidFill>
              </a:defRPr>
            </a:pPr>
            <a:r>
              <a:rPr sz="1050" b="1">
                <a:solidFill>
                  <a:srgbClr val="3C3C7A"/>
                </a:solidFill>
              </a:rPr>
              <a:t>Complemento: abas Familiares e Documentos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87C41-2C53-411C-872E-81FFCD3A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B04A8-662F-4563-87F8-2F99F9F8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4A9F1-8113-482C-B526-B54B0F90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0310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F7266-61D5-4BD0-B7F5-87A5ABC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04 • CADASTRO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4631C-EA2A-430C-A3EE-3D2B0CEF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Cadastro e readmissão preservam o histórico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25E8C-1AF1-4CDD-A039-2875814D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 pessoa, o vínculo e cada ciclo de internação ficam separados.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361FF-80CB-4527-85A6-B8D65D9C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563152d3140fa"/>
          <a:stretch xmlns:a="http://schemas.openxmlformats.org/drawingml/2006/main"/>
        </p:blipFill>
        <p:spPr>
          <a:xfrm xmlns:a="http://schemas.openxmlformats.org/drawingml/2006/main">
            <a:off x="762000" y="2456748"/>
            <a:ext cx="5562600" cy="2573155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7C3BF-E383-47D3-A345-477B46A8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97D3F-0ADC-4A84-BFFC-3955A56A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40EDC-2B4F-4B24-B8CD-3EF483A6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5ECCD-DFFB-4611-B78E-A9AECC2F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05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5CCA5-6E1F-46BB-828B-462B88E2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193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Admissão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1C659-DDA9-48E4-BDF1-281207C9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955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Data obrigatória e não futura.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F706D-118F-4F80-941B-E94349D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460DB-3A8E-4DBF-826B-6FFA589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562EC-4E68-4144-B60B-1A6C2658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18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Readmissão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CA39B-F16C-4930-97FC-5778CD8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48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Reaproveita o cadastro e cria novo ciclo.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31AC6-0940-4066-BC69-4E60C5D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8C4C9-6C13-4603-9A4A-3FE16079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0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E5241-2951-4DA4-9418-43153389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Integridade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53158-637D-43D5-8B61-948DA8B2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005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Evita duplicidade e retrocesso de datas.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FCC26-AEF2-46BD-AF9D-A7B48CA3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C49F8-9084-4887-B9C9-A4C33F8B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986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Pessoa  →  vínculo  →  ciclo de internação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DCFD1-40E6-441C-9ACC-C15E6AE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F5145-2B49-46E8-AA5B-8049F95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BD52C-3D83-4D98-9F4E-7438D6FD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6856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2ED00-39E8-4885-A8B7-DEEB57B9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05 • CURSOS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40EC6-ED5E-41ED-86AA-C8A93018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Cursos organizam ciclo, status e ocupação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4A400-1BEC-4A6C-A075-F8952FC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Planejamento, matrículas, acompanhamento e conclusão em uma única página.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47C9C-DA2E-4254-AA22-92AFD4F8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e7ef4dd7046e3"/>
          <a:stretch xmlns:a="http://schemas.openxmlformats.org/drawingml/2006/main"/>
        </p:blipFill>
        <p:spPr>
          <a:xfrm xmlns:a="http://schemas.openxmlformats.org/drawingml/2006/main">
            <a:off x="762000" y="2299827"/>
            <a:ext cx="6705600" cy="3096546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8BAE6-08B8-472B-9187-413D25C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28E9A-9B44-4322-A125-CAAD62DC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C70A7-D69D-4209-B784-9D7F0F77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20574-283A-4882-8898-809A017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5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C7571-7081-4CCF-8AFA-31CAF5B8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Quatro visões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B2593-CA1D-424F-9B55-3A47E0B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Em andamento, abertas, não iniciados e encerrados.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3E5DC-205E-499B-AF92-FB361B5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E6F77-3B2E-4D8C-94F0-4000F0DD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FCFF0-19FC-43E2-8BFA-2D54D095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Filtros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76DB3-4038-4713-936F-175D9DD5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28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Tipo, local, instituição e busca.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B98D7-651E-490F-AA15-598A0977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7F72B-15FC-47FE-A53A-8178AF5C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4013B-9D2D-4D6D-A308-4A9AF53B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Matrícula em 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27D05-8DDA-4472-A84E-DCAB4901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81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Interessado ou matriculado.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A0303-AE65-4A20-B22E-C9A40EA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62533-C4FB-464A-AC28-F6422B25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43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13661-8D49-4D16-A8CD-3DA5BD2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Conclusão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DB2F1-FC66-4917-BEB2-3F92D20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33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Término, desistência e certificado.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307D7-C99E-4109-A36E-593114D6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6DD65-321B-4C18-9F4C-02A6A2A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C562E-45EC-4681-BEC9-31F232E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6417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42AE2-751C-4896-9A54-118F9EB4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06 • FREQUÊNCIA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6C5E5-6A06-4C17-82FA-C7D987A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A presença é lançada por curso, dia e pessoa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43AAB-01EA-436B-8390-42113EEF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Agenda e página de cursos oferecem caminhos complementares.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AD3CA-687E-43C2-82E5-2FBD67A3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5245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fb5fb1dee41c9"/>
          <a:stretch xmlns:a="http://schemas.openxmlformats.org/drawingml/2006/main"/>
        </p:blipFill>
        <p:spPr>
          <a:xfrm xmlns:a="http://schemas.openxmlformats.org/drawingml/2006/main">
            <a:off x="762000" y="2502947"/>
            <a:ext cx="5372100" cy="2480756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36A3C-F33E-4B8D-966A-9E442BA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7DC90-60D2-4D8D-A3B3-FF2ECAE0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EDEDA-EA99-449B-A9CF-4B465CB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243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5F6F9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9A3D9-4B8F-4180-9B22-FEEB7B3B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C3C7A"/>
                </a:solidFill>
              </a:defRPr>
            </a:pPr>
            <a:r>
              <a:rPr sz="1500" b="1">
                <a:solidFill>
                  <a:srgbClr val="3C3C7A"/>
                </a:solidFill>
              </a:rPr>
              <a:t>Também disponível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3C31A-124D-44FC-AE33-FE4155D7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377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69396-29BF-4785-9E36-14013E1D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717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Calendário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12B59-917A-4E5C-942A-ADDAB4A4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Ausência e observação por pessoa.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73C00-ED4D-4417-BDA0-75660045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377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EFFC"/>
          </a:solidFill>
          <a:ln xmlns:a="http://schemas.openxmlformats.org/drawingml/2006/main" w="9525">
            <a:solidFill>
              <a:srgbClr val="3C3C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A704B-C339-4F0B-A471-76CEF212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52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Histórico mensal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99190-EF45-4952-846E-E3D474F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Consulta e exportação XLSX.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71132-D1E1-4C90-9799-0CDC5DED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377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404AA-5EEA-480E-8AAD-47E458EF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338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Relatórios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2ABB4-F66A-4B14-8BEA-4CF2678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Geral, por curso e específico.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21E3A-5ACE-4406-A750-986124A6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6EA2A-ECB9-40DB-A1BC-7397D45B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2C275-76ED-4C66-B73A-B8C11B9C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2282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225A8-49C4-4A60-AA6C-B1BE03F0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07 • OFICINAS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991F2-DF86-4EAF-B663-F91994AD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Oficinas combinam evento coletivo e participação individual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8F07-2D80-4CD3-AC8F-036B69A2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Um evento envolve várias pessoas, mas a realização é acompanhada por matrícula.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F33BB-C4C3-40A4-B20D-BFBD1BC0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1912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5342a4dcb4d5a"/>
          <a:stretch xmlns:a="http://schemas.openxmlformats.org/drawingml/2006/main"/>
        </p:blipFill>
        <p:spPr>
          <a:xfrm xmlns:a="http://schemas.openxmlformats.org/drawingml/2006/main">
            <a:off x="762000" y="2348999"/>
            <a:ext cx="6038850" cy="2788651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7A8A6-7784-4EC6-85E3-9FDE4AC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00208-50A5-4A12-8873-4E9489AC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1ED2-C012-413C-B4D6-0561032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7AA5C-5858-452C-B237-B6C26B2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62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9FF6-3506-4383-9278-6CAFDEB7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Cadastro em lote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8368C-E434-4448-BA1A-C624640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52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Nome, tipo, responsável e participantes.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9250C-6E73-45F0-ACDC-B4A24A3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18516-8128-465B-8C58-75006C6D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14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96F2A-5478-4B44-890F-221AF16D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Realização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01FBD-F210-4120-B179-ECD9A304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Sim ou não por participante.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BCA98-B94D-45D9-AF37-AE4622D4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511A6-877B-4648-B519-3C537E53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67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7879B-6285-43A7-BE81-5F702EBD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Agenda segura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160B7-C6A3-4B10-B7D3-0E19226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57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Valida conflitos com outros eventos.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2320A-D91C-418C-8677-7743F3B6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ABD42-6471-4EC7-A68F-F8C8EDA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17634-EC07-419E-BC0E-E0AF5593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4374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36E3E-7F5B-49B6-AE77-D398BD4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08 • ROTINA MULTIPROFISSIONAL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603FD-1D13-4407-BA4B-45D8130B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Cada registro alimenta o acompanhamento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72407-A383-47E3-9B7A-93FAC178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 rotina coletiva e individual fica rastreável no perfil.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32052-E3C0-4AC2-9AD5-348A712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4292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530e30c504e33"/>
          <a:stretch xmlns:a="http://schemas.openxmlformats.org/drawingml/2006/main"/>
        </p:blipFill>
        <p:spPr>
          <a:xfrm xmlns:a="http://schemas.openxmlformats.org/drawingml/2006/main">
            <a:off x="762000" y="2524940"/>
            <a:ext cx="5276850" cy="2436771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8F0A2-A7CF-437D-9691-FD00B7B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1026B-D491-47AB-ADF8-39E0C4F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D8F48-815F-474D-B8B7-D4E371F4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3624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5F6F9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A2E54-F893-414C-A049-9D7374E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52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C3C7A"/>
                </a:solidFill>
              </a:defRPr>
            </a:pPr>
            <a:r>
              <a:rPr sz="1650" b="1">
                <a:solidFill>
                  <a:srgbClr val="3C3C7A"/>
                </a:solidFill>
              </a:rPr>
              <a:t>Fluxos conectados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39164-2C6C-496F-BC4B-BD92708D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Atendimento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54B9C-1C69-4CB8-B51B-10FE8AE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Motivo e reposição encadeada.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7359A-E0DD-4A22-A0F7-E67DEC2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1DA30-56D3-418A-AF11-711BDB9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Trabalho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2034E-4A98-4EB8-A133-8FA960D6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Vínculo, empresa e horário.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940BB-CE44-4E4F-A551-C9BF2D3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6163E-0DEA-43FC-AA75-F32F5BC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Visita territorial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80DCB-41F7-4971-A3D5-898AFBCF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Técnico e encaminhamentos.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8730B-BBE3-45A5-B1B5-8A9F496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0550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BF446-C4C7-4762-8FC6-C61ED1D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529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212A"/>
                </a:solidFill>
              </a:defRPr>
            </a:pPr>
            <a:r>
              <a:rPr sz="1200" b="1">
                <a:solidFill>
                  <a:srgbClr val="20212A"/>
                </a:solidFill>
              </a:rPr>
              <a:t>Familiares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95D3A-C561-4B76-A83F-8F68694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6575"/>
                </a:solidFill>
              </a:defRPr>
            </a:pPr>
            <a:r>
              <a:rPr sz="975">
                <a:solidFill>
                  <a:srgbClr val="606575"/>
                </a:solidFill>
              </a:rPr>
              <a:t>Cards e pessoa principal.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5239C-6056-43C5-93E8-151F9406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84D80-070F-43CF-9D65-F6052B21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7D0E7-3222-4110-AC5F-3E813DD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26731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7CDDF7-C70E-4C4F-B9CC-F401E44C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09 • SAÍDAS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61A6B-901F-4F0D-9B72-6E6E30D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Saídas têm planejamento, retorno e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BFB3A-BA6A-4F37-8985-5DEC1E8E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O retorno individual não se confunde com a previsão de volta do evento.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1C451-11CD-408E-8F8A-C3EAA69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5248318874c6f"/>
          <a:stretch xmlns:a="http://schemas.openxmlformats.org/drawingml/2006/main"/>
        </p:blipFill>
        <p:spPr>
          <a:xfrm xmlns:a="http://schemas.openxmlformats.org/drawingml/2006/main">
            <a:off x="762000" y="2480955"/>
            <a:ext cx="5467350" cy="2524741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E5B96-9D12-442D-A654-220E661A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AC482-0024-42AA-84E4-C414AD7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F68E1-F911-4994-8A6D-C5E97E59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55A58-2393-4D59-9800-26A67216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66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06EF5-CB92-4092-AB3D-E037A20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81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Status do evento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D0301-B336-409A-A217-BCE0303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57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Prevista, realizada ou cancelada.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256E4-0F00-455D-A713-DE814FDF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1A201-C279-486C-B2B3-2012A27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194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9D37E-4B29-4B76-8710-9A6EE1C5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Retorno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14373-AB7A-4E9A-B590-7BD831E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9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Pendências aparecem no painel.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83633-4C80-42B7-9CAC-CC2A726F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5D2FC-5485-4540-A737-B12555C6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71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14416-1FDE-476F-8281-14AF3F36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86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Conflitos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EF63C-A0D5-44FA-970D-8D389D9A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62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Cruza cursos, oficinas e atendimentos.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95FC9-85CB-4493-BC54-992DD7D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3905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19BEF-C038-4F24-894C-F736461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C3C7A"/>
                </a:solidFill>
              </a:defRPr>
            </a:pPr>
            <a:r>
              <a:rPr sz="1125" b="1">
                <a:solidFill>
                  <a:srgbClr val="3C3C7A"/>
                </a:solidFill>
              </a:rPr>
              <a:t>Revisar horários antes de salvar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494D6-BBFD-4534-9254-8848078F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1F7D9-E535-4198-9DD0-C5565CB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47D5F-BE4C-4234-8085-18BE020A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2661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DEFCD-4513-4D1A-9EDB-1302FD3B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10 • DOCUMENTOS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899CF-028F-411D-83FB-C390EA6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Documentos ficam visíveis e atualizáveis em 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052CF-5E49-46C5-B5AB-D0E995F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 tela reúne seis documentos pessoais e uma ação única de salvamento.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13ACC-FBD4-4168-B663-C0C99B44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d0fa9d81147a9"/>
          <a:stretch xmlns:a="http://schemas.openxmlformats.org/drawingml/2006/main"/>
        </p:blipFill>
        <p:spPr>
          <a:xfrm xmlns:a="http://schemas.openxmlformats.org/drawingml/2006/main">
            <a:off x="780014" y="2000250"/>
            <a:ext cx="8003073" cy="3695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7C7B4-3B04-4467-A531-DDD87D2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2D793-54DD-4629-BDEA-4C09C01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39F4E-9F71-41E3-B7B1-C2457F2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886CC-8975-48E7-8D12-97BB0499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62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D9D2B-6AC4-4FB9-BC59-7130138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Seis documentos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C1D83-C1A9-426A-AC7A-EAA0FB9F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52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RG, CPF e demais documentos.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4C679-CECD-4C97-A23C-A6E522BB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2A239-01D1-4378-8BFE-5296B89C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14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97C89-79BB-4446-81D5-70386CD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Atualização em lote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B8ED8-8ED1-4FEC-8684-7965A09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051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Vários registros na mesma tela.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A7299-0942-416C-BC5E-9B58AA02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95A65-CA9E-42D3-BC7F-5C0EE6C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67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4CBD0-1DC5-4DE1-B6F6-29BD5487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81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Salvar uma vez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D6171-BF9F-4855-940B-AEB835D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57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Revisão antes de confirmar.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66208-2258-4A4F-865C-A4B812B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11AF6-23C5-4F53-929C-0C2373ED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32E92-FC07-46CB-98BF-06BAD3F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32345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29D16-8CAF-4456-9503-68A6626C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11 • IMPORTAÇÃO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30B45-596F-40EE-9647-CAF38A6D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Importar dados reduz trabalho repetitivo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BFF4F-C5A1-4C67-B6F8-5F4A734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O sistema oferece dois fluxos e orienta a origem dos arquivos CSV.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B57E1-62B0-4D5F-9C53-B820D1B7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934733a754bbb"/>
          <a:stretch xmlns:a="http://schemas.openxmlformats.org/drawingml/2006/main"/>
        </p:blipFill>
        <p:spPr>
          <a:xfrm xmlns:a="http://schemas.openxmlformats.org/drawingml/2006/main">
            <a:off x="762000" y="2299827"/>
            <a:ext cx="6705600" cy="3096546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89A60-A6C4-4BE7-9B40-1FE58FE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C1BAC-1AE1-4C19-9D23-724E2F1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A08AB-EB75-4478-BBCC-92FD9D5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52B87-7746-4928-8056-DF74F1B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10A12-DCFF-4C82-82C3-AA2414B6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Novos cadastros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B7E40-2A72-46B7-84F6-D3BD68A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52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Cria socioeducandos e admissões.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0FBA0-511E-4354-B03C-73FA2EA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04E7A-6505-47C1-8FA9-13DFD3F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14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132A4-9C7A-44F5-BBA2-55DCDD1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Escolaridade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121A1-EE8F-46DB-98B5-9EEF078E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051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Atualiza quem já está cadastrado.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52126-6361-4222-920B-54B5A9C0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75255-C30D-4E58-9240-AF0008DF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B1719-B731-4203-8C2E-69A5696D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Prévia e origem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BAF72-E362-4C22-82F8-CEF2B89C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57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CSV exportado diretamente do Portal.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5DC31-E774-44BD-ADBC-B1B26A8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109CC-C8A1-47F7-AB91-B2AB419F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E7F86-700A-4231-B4AC-2ECA2725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8487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287FA-D644-4368-9927-BAEA411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12 • RELATÓRIOS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2E08-52F1-4178-BEBC-B4040BE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Relatórios transformam registros em acompanhamento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CBCF0-4D06-4DA1-A993-7E719E31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A página Cursos concentra exportações e visões de acompanhamento.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D38B0-F37F-4D4F-A3AB-1B0FFBE6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ff1f0e9f443e6"/>
          <a:stretch xmlns:a="http://schemas.openxmlformats.org/drawingml/2006/main"/>
        </p:blipFill>
        <p:spPr>
          <a:xfrm xmlns:a="http://schemas.openxmlformats.org/drawingml/2006/main">
            <a:off x="762000" y="2299827"/>
            <a:ext cx="6705600" cy="3096546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4B926-52B3-432B-8820-AE585217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1F2A5-E84B-4563-9F42-53E5FDA6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28873-6838-4FCB-A06B-75735936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EF7AE-0BC7-4A74-BB64-AA003656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E0119-C0B5-4EA3-B7DA-63AD541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Visão geral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DEE2E-2FE6-4D38-9E61-07E3C677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52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Panorama dos cursos cadastrados.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5C2DE-C8E8-4DE1-9053-1BA6B23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DAE88-ACB5-48A7-9DFA-955CC26B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14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6E919-ACB1-4DCB-AEE6-E379B9A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Por curso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DF66E-CC4B-4806-8556-71C4104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051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Acompanhamento de uma turma.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FF393-CA3A-4701-9F31-F904499E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F79F7-7932-4E5C-9C71-FCAEDF4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DB36E-E904-4498-9BCC-3141C67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Exportação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A0006-95A9-40E4-8BDD-36CE4B62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57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Relatórios em XLSX.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F4D5A-E079-4E92-83A8-B42EDC1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582D9-BEE6-43E5-B6BE-44835AE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6FB5A-6D7E-4BF8-847B-A4CC5E82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36379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96D01-D61E-42E8-BBC0-AD9DFB30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C3C7A"/>
                </a:solidFill>
              </a:defRPr>
            </a:pPr>
            <a:r>
              <a:rPr sz="900" b="1">
                <a:solidFill>
                  <a:srgbClr val="3C3C7A"/>
                </a:solidFill>
              </a:rPr>
              <a:t>13 •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10532-72F1-45FB-8E5D-E066EA6B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12A"/>
                </a:solidFill>
              </a:defRPr>
            </a:pPr>
            <a:r>
              <a:rPr sz="2550" b="1">
                <a:solidFill>
                  <a:srgbClr val="20212A"/>
                </a:solidFill>
              </a:rPr>
              <a:t>Equipes tornam a responsabilidade visível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E4691-8C84-4E10-8758-CAA61F1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575"/>
                </a:solidFill>
              </a:defRPr>
            </a:pPr>
            <a:r>
              <a:rPr sz="1275">
                <a:solidFill>
                  <a:srgbClr val="606575"/>
                </a:solidFill>
              </a:rPr>
              <a:t>Especialidades, profissionais e distribuição aparecem no sistema inteiro.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36614-66D6-4F78-A330-F4CAA89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0960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59cf789ca4b92"/>
          <a:stretch xmlns:a="http://schemas.openxmlformats.org/drawingml/2006/main"/>
        </p:blipFill>
        <p:spPr>
          <a:xfrm xmlns:a="http://schemas.openxmlformats.org/drawingml/2006/main">
            <a:off x="762000" y="2475767"/>
            <a:ext cx="5943600" cy="2744666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AF5A2-BDE5-4CFF-925A-674F985E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70C75-3806-4143-8119-B1E6E5E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3C7A"/>
                </a:solidFill>
              </a:defRPr>
            </a:pPr>
            <a:r>
              <a:rPr sz="675" b="1">
                <a:solidFill>
                  <a:srgbClr val="3C3C7A"/>
                </a:solidFill>
              </a:rPr>
              <a:t>CAPTURA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ECD90-1F0E-4BBB-B203-ABD1AA7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C3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C02F5-68B3-4100-BA47-4605989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0529E-83E6-44B9-B2BF-96B46364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Especialidades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6164E-43E1-43E4-BB99-BE9B32C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76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Catálogo editável de responsáveis.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A182-021D-4269-A783-289435FE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37412-EF5D-4CCF-AE74-E8DE7F5A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168A4-E72E-4B53-90F3-8628B27A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527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Equipes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AF214-79A0-438A-BE78-110C57DD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28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Nome, cor e especialistas.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F996C-3E2C-46AD-AB67-7D62C7BE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9385A-AF18-4C01-8C0F-86BB9E5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B57A1-D7AB-4950-B2FC-BF5791FF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12A"/>
                </a:solidFill>
              </a:defRPr>
            </a:pPr>
            <a:r>
              <a:rPr sz="1350" b="1">
                <a:solidFill>
                  <a:srgbClr val="20212A"/>
                </a:solidFill>
              </a:rPr>
              <a:t>Distribuição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9E095-14A4-4E23-ADD4-F33F198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814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Busca por nome, ID ou equipe.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72A8C-34C1-4F64-B6C7-94A1182C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6255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A0709-5074-47AE-B8E3-335C480E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informação reaparece no Painel e no Perfil.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D6B0B-F739-4F35-A956-1F939570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26541-727F-4157-A524-7F0F5E4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Sistema de Controle da Unidade Socioeducativa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63363-1085-4C49-AD05-E0832F5D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06575"/>
                </a:solidFill>
              </a:defRPr>
            </a:pPr>
            <a:r>
              <a:rPr sz="825">
                <a:solidFill>
                  <a:srgbClr val="60657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9964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3C3C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989263-E8C2-451C-AE40-FE77E59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D9FF"/>
                </a:solidFill>
              </a:defRPr>
            </a:pPr>
            <a:r>
              <a:rPr sz="975" b="1">
                <a:solidFill>
                  <a:srgbClr val="D9D9FF"/>
                </a:solidFill>
              </a:rPr>
              <a:t>FECHAMENTO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A1C7A-8635-4466-B405-471A113A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Uma demonstração simples para mostrar o valor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EB9BA-A553-440E-B69D-E3C6C1BF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E7F5"/>
                </a:solidFill>
              </a:defRPr>
            </a:pPr>
            <a:r>
              <a:rPr sz="1650">
                <a:solidFill>
                  <a:srgbClr val="E7E7F5"/>
                </a:solidFill>
              </a:rPr>
              <a:t>Comece no painel. Entre em um perfil. Mostre a atividade. Termine com a decisão.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0CE1F-91FC-4CA0-B986-0A0CD359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C29BF-0F59-43E0-9CB9-23F55C34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C3C7A"/>
                </a:solidFill>
              </a:defRPr>
            </a:pPr>
            <a:r>
              <a:rPr sz="1650" b="1">
                <a:solidFill>
                  <a:srgbClr val="3C3C7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768B0-90B8-43D0-AF92-16B90C0D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A"/>
                </a:solidFill>
              </a:defRPr>
            </a:pPr>
            <a:r>
              <a:rPr sz="1575" b="1">
                <a:solidFill>
                  <a:srgbClr val="20212A"/>
                </a:solidFill>
              </a:rPr>
              <a:t>Painel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6600F-A158-43BE-A618-53A445A6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575"/>
                </a:solidFill>
              </a:defRPr>
            </a:pPr>
            <a:r>
              <a:rPr sz="1050">
                <a:solidFill>
                  <a:srgbClr val="606575"/>
                </a:solidFill>
              </a:rPr>
              <a:t>O que merece atenção?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B60F9-25A6-41A8-BCED-F92374C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6230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B4B88"/>
          </a:solidFill>
          <a:ln xmlns:a="http://schemas.openxmlformats.org/drawingml/2006/main" w="9525">
            <a:solidFill>
              <a:srgbClr val="6A6A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38FAA-36B9-4CB5-8A5A-ED66490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71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FF"/>
                </a:solidFill>
              </a:defRPr>
            </a:pPr>
            <a:r>
              <a:rPr sz="1650" b="1">
                <a:solidFill>
                  <a:srgbClr val="D9D9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3E1A9-E3DE-4A92-9CFD-0C10D5E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3B7E7-DBC6-4C69-9E8E-EAC2D46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91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7E7F5"/>
                </a:solidFill>
              </a:defRPr>
            </a:pPr>
            <a:r>
              <a:rPr sz="1050">
                <a:solidFill>
                  <a:srgbClr val="E7E7F5"/>
                </a:solidFill>
              </a:rPr>
              <a:t>Quem precisa de contexto?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1BFA1-430B-426C-9B87-31FFF17A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B4B88"/>
          </a:solidFill>
          <a:ln xmlns:a="http://schemas.openxmlformats.org/drawingml/2006/main" w="9525">
            <a:solidFill>
              <a:srgbClr val="6A6A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4164A-093D-4A31-95B7-F674520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FF"/>
                </a:solidFill>
              </a:defRPr>
            </a:pPr>
            <a:r>
              <a:rPr sz="1650" b="1">
                <a:solidFill>
                  <a:srgbClr val="D9D9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D06F1-F1EE-4E06-BB36-6AEF099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3736E-CBA9-49A8-ABE3-D1600A69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7E7F5"/>
                </a:solidFill>
              </a:defRPr>
            </a:pPr>
            <a:r>
              <a:rPr sz="1050">
                <a:solidFill>
                  <a:srgbClr val="E7E7F5"/>
                </a:solidFill>
              </a:rPr>
              <a:t>O que foi feito?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9BE86-8AA0-460C-A7FE-9D496A1F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B4B88"/>
          </a:solidFill>
          <a:ln xmlns:a="http://schemas.openxmlformats.org/drawingml/2006/main" w="9525">
            <a:solidFill>
              <a:srgbClr val="6A6A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CEFFE-BF56-4825-A8C9-5CE506DA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FF"/>
                </a:solidFill>
              </a:defRPr>
            </a:pPr>
            <a:r>
              <a:rPr sz="1650" b="1">
                <a:solidFill>
                  <a:srgbClr val="D9D9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E234A-7B27-4B22-AB4D-60B5F69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Gestão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56438-950C-446E-9B13-8501582B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7E7F5"/>
                </a:solidFill>
              </a:defRPr>
            </a:pPr>
            <a:r>
              <a:rPr sz="1050">
                <a:solidFill>
                  <a:srgbClr val="E7E7F5"/>
                </a:solidFill>
              </a:rPr>
              <a:t>Que decisão fica fácil?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A116B-3B1A-4E3B-BD88-64D23A7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E7F5"/>
                </a:solidFill>
              </a:defRPr>
            </a:pPr>
            <a:r>
              <a:rPr sz="1350" b="1">
                <a:solidFill>
                  <a:srgbClr val="E7E7F5"/>
                </a:solidFill>
              </a:rPr>
              <a:t>Próximo passo: ensaiar uma demonstração de 5 a 7 minutos.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56094-099C-416C-AFF4-1F289FDE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19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5BAE9-C544-4335-B19D-D18639A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9D9FF"/>
                </a:solidFill>
              </a:defRPr>
            </a:pPr>
            <a:r>
              <a:rPr sz="825">
                <a:solidFill>
                  <a:srgbClr val="D9D9FF"/>
                </a:solidFill>
              </a:rPr>
              <a:t>Sistema de Controle da Unidade Socioeducativa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ED95B-4A15-4BC2-8E95-A6FC28FA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D9D9FF"/>
                </a:solidFill>
              </a:defRPr>
            </a:pPr>
            <a:r>
              <a:rPr sz="825">
                <a:solidFill>
                  <a:srgbClr val="D9D9F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54003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2026-09-17T01:14:24.9440000Z</dcterms:created>
  <dcterms:modified xsi:type="dcterms:W3CDTF">2026-09-17T01:14:24.9440000Z</dcterms:modified>
</coreProperties>
</file>